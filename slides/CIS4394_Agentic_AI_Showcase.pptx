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Building the Next Generation of AI Builders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9EFFD"/>
                </a:solidFill>
              </a:rPr>
              <a:t>CIS 4394: Agentic AI Systems · Spring 2026 · Robinson College of Business, GSU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Before we talk about the course — here's what undergraduates built in 12 weeks.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645920"/>
            <a:ext cx="3657600" cy="182880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ScopeGuard — Jeevan Nachiappan</a:t>
            </a:r>
          </a:p>
          <a:p>
            <a:pPr>
              <a:defRPr sz="1200">
                <a:solidFill>
                  <a:srgbClr val="E9EFFD"/>
                </a:solidFill>
              </a:defRPr>
            </a:pPr>
            <a:r>
              <a:t>De-risks startup MVP scope.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19" y="3063239"/>
            <a:ext cx="1371600" cy="274320"/>
          </a:xfrm>
          <a:prstGeom prst="rect">
            <a:avLst/>
          </a:prstGeom>
          <a:solidFill>
            <a:srgbClr val="F4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A1A00"/>
                </a:solidFill>
              </a:rPr>
              <a:t>Entrepreneurship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1645920"/>
            <a:ext cx="3657600" cy="182880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ImmiGuide — Hayley Vu</a:t>
            </a:r>
          </a:p>
          <a:p>
            <a:pPr>
              <a:defRPr sz="1200">
                <a:solidFill>
                  <a:srgbClr val="E9EFFD"/>
                </a:solidFill>
              </a:defRPr>
            </a:pPr>
            <a:r>
              <a:t>F-1/OPT/CPT guidance and deadlines.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063239"/>
            <a:ext cx="1371600" cy="274320"/>
          </a:xfrm>
          <a:prstGeom prst="rect">
            <a:avLst/>
          </a:prstGeom>
          <a:solidFill>
            <a:srgbClr val="F4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A1A00"/>
                </a:solidFill>
              </a:rPr>
              <a:t>Legal / Civic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321040" y="1645920"/>
            <a:ext cx="3657600" cy="182880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NutriGuide — Rekha Wulfekuhle</a:t>
            </a:r>
          </a:p>
          <a:p>
            <a:pPr>
              <a:defRPr sz="1200">
                <a:solidFill>
                  <a:srgbClr val="E9EFFD"/>
                </a:solidFill>
              </a:defRPr>
            </a:pPr>
            <a:r>
              <a:t>Nutrition tracker and wellness coaching.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3063239"/>
            <a:ext cx="1371600" cy="274320"/>
          </a:xfrm>
          <a:prstGeom prst="rect">
            <a:avLst/>
          </a:prstGeom>
          <a:solidFill>
            <a:srgbClr val="F4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A1A00"/>
                </a:solidFill>
              </a:rPr>
              <a:t>Health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57600"/>
            <a:ext cx="3657600" cy="182880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Tax Agent — AJ Gibbs</a:t>
            </a:r>
          </a:p>
          <a:p>
            <a:pPr>
              <a:defRPr sz="1200">
                <a:solidFill>
                  <a:srgbClr val="E9EFFD"/>
                </a:solidFill>
              </a:defRPr>
            </a:pPr>
            <a:r>
              <a:t>Parses docs and identifies deductions.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19" y="5074920"/>
            <a:ext cx="1371600" cy="274320"/>
          </a:xfrm>
          <a:prstGeom prst="rect">
            <a:avLst/>
          </a:prstGeom>
          <a:solidFill>
            <a:srgbClr val="F4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A1A00"/>
                </a:solidFill>
              </a:rPr>
              <a:t>Finance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3657600"/>
            <a:ext cx="3657600" cy="182880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OfferPacket Agent — Bas Abariga</a:t>
            </a:r>
          </a:p>
          <a:p>
            <a:pPr>
              <a:defRPr sz="1200">
                <a:solidFill>
                  <a:srgbClr val="E9EFFD"/>
                </a:solidFill>
              </a:defRPr>
            </a:pPr>
            <a:r>
              <a:t>Role-specific job application packets.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5074920"/>
            <a:ext cx="1371600" cy="274320"/>
          </a:xfrm>
          <a:prstGeom prst="rect">
            <a:avLst/>
          </a:prstGeom>
          <a:solidFill>
            <a:srgbClr val="F4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A1A00"/>
                </a:solidFill>
              </a:rPr>
              <a:t>Career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3657600"/>
            <a:ext cx="3657600" cy="182880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RecipeGenius — Ashriel Tayo-Olugbode</a:t>
            </a:r>
          </a:p>
          <a:p>
            <a:pPr>
              <a:defRPr sz="1200">
                <a:solidFill>
                  <a:srgbClr val="E9EFFD"/>
                </a:solidFill>
              </a:defRPr>
            </a:pPr>
            <a:r>
              <a:t>Ingredient-aware recipes and shopping.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5074920"/>
            <a:ext cx="1371600" cy="274320"/>
          </a:xfrm>
          <a:prstGeom prst="rect">
            <a:avLst/>
          </a:prstGeom>
          <a:solidFill>
            <a:srgbClr val="F4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A1A00"/>
                </a:solidFill>
              </a:rPr>
              <a:t>Lifestyle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Prerequisites &amp;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Basic Python (variables, loops, functions, notebooks)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AI/ML literacy: understands what LLMs are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Basic math/data: algebra, graphs, probability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Digital literacy + curiosity (Colab, problem solving)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Upper-division undergraduate elective (IS/Business Analytics)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Also suitable for CS students wanting applied AI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Not a research course — production-oriented, build-first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Module 1: Foundations of Agentic AI (Weeks 1–5)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3657600" cy="164592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Week 1: Intro to Agentic AI</a:t>
            </a:r>
          </a:p>
          <a:p>
            <a:pPr>
              <a:defRPr sz="1200">
                <a:solidFill>
                  <a:srgbClr val="E9EFFD"/>
                </a:solidFill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3657600" cy="164592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Week 2: Prompt engineering</a:t>
            </a:r>
          </a:p>
          <a:p>
            <a:pPr>
              <a:defRPr sz="1200">
                <a:solidFill>
                  <a:srgbClr val="E9EFFD"/>
                </a:solidFill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8412480" y="1828800"/>
            <a:ext cx="3657600" cy="164592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Week 3: Instruction tuning &amp; fine-tuning</a:t>
            </a:r>
          </a:p>
          <a:p>
            <a:pPr>
              <a:defRPr sz="1200">
                <a:solidFill>
                  <a:srgbClr val="E9EFFD"/>
                </a:solidFill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731520" y="3749039"/>
            <a:ext cx="3657600" cy="164592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Week 4: Autonomy, planning, reasoning</a:t>
            </a:r>
          </a:p>
          <a:p>
            <a:pPr>
              <a:defRPr sz="1200">
                <a:solidFill>
                  <a:srgbClr val="E9EFFD"/>
                </a:solidFill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4572000" y="3749039"/>
            <a:ext cx="3657600" cy="164592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Week 5: Memory, state, adaptability</a:t>
            </a:r>
          </a:p>
          <a:p>
            <a:pPr>
              <a:defRPr sz="1200">
                <a:solidFill>
                  <a:srgbClr val="E9EFFD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Goal: Understand what makes an agent an agent.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Module 2: Supercharging Agents with Tools (Weeks 6–8)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3657600" cy="164592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Week 6: Tool use, API calling, external data</a:t>
            </a:r>
          </a:p>
          <a:p>
            <a:pPr>
              <a:defRPr sz="1200">
                <a:solidFill>
                  <a:srgbClr val="E9EFFD"/>
                </a:solidFill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3657600" cy="164592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Week 7: RAG, embeddings, grounding</a:t>
            </a:r>
          </a:p>
          <a:p>
            <a:pPr>
              <a:defRPr sz="1200">
                <a:solidFill>
                  <a:srgbClr val="E9EFFD"/>
                </a:solidFill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8412480" y="1828800"/>
            <a:ext cx="3657600" cy="164592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Week 8: Human-AI interaction and evaluation</a:t>
            </a:r>
          </a:p>
          <a:p>
            <a:pPr>
              <a:defRPr sz="1200">
                <a:solidFill>
                  <a:srgbClr val="E9EFFD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Goal: Transform LLMs into functional problem-solvers.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Module 3: Multi-Agent Systems (Weeks 9–10)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3657600" cy="164592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Week 9: Multi-agent design and coordination</a:t>
            </a:r>
          </a:p>
          <a:p>
            <a:pPr>
              <a:defRPr sz="1200">
                <a:solidFill>
                  <a:srgbClr val="E9EFFD"/>
                </a:solidFill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3657600" cy="164592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Week 10: Safe/trustworthy MAS and metrics</a:t>
            </a:r>
          </a:p>
          <a:p>
            <a:pPr>
              <a:defRPr sz="1200">
                <a:solidFill>
                  <a:srgbClr val="E9EFFD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Goal: Build systems where agents collaborate and check each other.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Module 4: Deployment &amp; Capstone (Weeks 11–14)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3657600" cy="164592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Weeks 11–12: Final project development</a:t>
            </a:r>
          </a:p>
          <a:p>
            <a:pPr>
              <a:defRPr sz="1200">
                <a:solidFill>
                  <a:srgbClr val="E9EFFD"/>
                </a:solidFill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3657600" cy="164592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Weeks 13–14: Capstone presentations and demo day</a:t>
            </a:r>
          </a:p>
          <a:p>
            <a:pPr>
              <a:defRPr sz="1200">
                <a:solidFill>
                  <a:srgbClr val="E9EFFD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Goal: Ship something real.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How you do expense reports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Log into bank and download statement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Search Gmail for Lyft, Delta, Marriott receipts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Find meeting agenda as business purpose evidence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Match each transaction manually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Fill reimbursement form and submit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577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Time: 20–40 minutes per trip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How the agent does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94560"/>
            <a:ext cx="2743200" cy="210312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1. Inputs: bank CSV + email receipts + agenda</a:t>
            </a:r>
          </a:p>
          <a:p>
            <a:pPr>
              <a:defRPr sz="1200">
                <a:solidFill>
                  <a:srgbClr val="E9EFFD"/>
                </a:solidFill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3657600" y="2194560"/>
            <a:ext cx="2743200" cy="210312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2. Extract: normalize merchants, dates, amounts</a:t>
            </a:r>
          </a:p>
          <a:p>
            <a:pPr>
              <a:defRPr sz="1200">
                <a:solidFill>
                  <a:srgbClr val="E9EFFD"/>
                </a:solidFill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6583680" y="2194560"/>
            <a:ext cx="2743200" cy="210312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3. Match + categorize via categorize_expense()</a:t>
            </a:r>
          </a:p>
          <a:p>
            <a:pPr>
              <a:defRPr sz="1200">
                <a:solidFill>
                  <a:srgbClr val="E9EFFD"/>
                </a:solidFill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9509760" y="2194560"/>
            <a:ext cx="2743200" cy="210312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4. Output: reimbursement report + status</a:t>
            </a:r>
          </a:p>
          <a:p>
            <a:pPr>
              <a:defRPr sz="1200">
                <a:solidFill>
                  <a:srgbClr val="E9EFFD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22960" y="5303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Time: ~30 seconds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Human vs. agent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</a:defRPr>
            </a:pPr>
            <a:r>
              <a:t>Agent handles: parsing, extraction, matching, formatting, missing-receipt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7373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</a:defRPr>
            </a:pPr>
            <a:r>
              <a:t>You write: categorize_expense() rules, policy thresholds, approval logic, domain judgment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Every line here is a business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10789920" cy="3474720"/>
          </a:xfrm>
          <a:prstGeom prst="rect">
            <a:avLst/>
          </a:prstGeom>
          <a:solidFill>
            <a:srgbClr val="0F1A32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D8E2FF"/>
                </a:solidFill>
                <a:latin typeface="Courier New"/>
              </a:defRPr>
            </a:pPr>
            <a:r>
              <a:t>def categorize_expense(merchant: str, amount: float) -&gt; dict:</a:t>
            </a:r>
          </a:p>
          <a:p>
            <a:r>
              <a:t>    """</a:t>
            </a:r>
          </a:p>
          <a:p>
            <a:r>
              <a:t>    YOUR company's reimbursement rules go here.</a:t>
            </a:r>
          </a:p>
          <a:p>
            <a:r>
              <a:t>    The agent cannot know your policy — you write this.</a:t>
            </a:r>
          </a:p>
          <a:p>
            <a:r>
              <a:t>    """</a:t>
            </a:r>
          </a:p>
          <a:p>
            <a:r>
              <a:t>    # Meals under $75 -&gt; approved</a:t>
            </a:r>
          </a:p>
          <a:p>
            <a:r>
              <a:t>    # Uber/Lyft -&gt; approved only for airport trips</a:t>
            </a:r>
          </a:p>
          <a:p>
            <a:r>
              <a:t>    # Hotels -&gt; approved up to $250/night</a:t>
            </a:r>
          </a:p>
          <a:p>
            <a:r>
              <a:t>    # Coffee, personal items -&gt; not reimbursable</a:t>
            </a:r>
          </a:p>
          <a:p>
            <a:r>
              <a:t>   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577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AI handles structure and speed. Humans encode judgment and context.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Tools &amp; frameworks in CIS 4394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737360"/>
            <a:ext cx="3657600" cy="182880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Google ADK</a:t>
            </a:r>
          </a:p>
          <a:p>
            <a:pPr>
              <a:defRPr sz="1200">
                <a:solidFill>
                  <a:srgbClr val="E9EFFD"/>
                </a:solidFill>
              </a:defRPr>
            </a:pPr>
            <a:r>
              <a:t>Core development, tools, orchestration</a:t>
            </a:r>
            <a:br/>
            <a:r>
              <a:t>Best for: production-grade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0" y="1737360"/>
            <a:ext cx="3657600" cy="182880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n8n</a:t>
            </a:r>
          </a:p>
          <a:p>
            <a:pPr>
              <a:defRPr sz="1200">
                <a:solidFill>
                  <a:srgbClr val="E9EFFD"/>
                </a:solidFill>
              </a:defRPr>
            </a:pPr>
            <a:r>
              <a:t>Visual workflow automation</a:t>
            </a:r>
            <a:br/>
            <a:r>
              <a:t>Best for: rapid prototyping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1737360"/>
            <a:ext cx="3657600" cy="182880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LangChain</a:t>
            </a:r>
          </a:p>
          <a:p>
            <a:pPr>
              <a:defRPr sz="1200">
                <a:solidFill>
                  <a:srgbClr val="E9EFFD"/>
                </a:solidFill>
              </a:defRPr>
            </a:pPr>
            <a:r>
              <a:t>LLM chains + RAG pipelines</a:t>
            </a:r>
            <a:br/>
            <a:r>
              <a:t>Best for: Python developers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49039"/>
            <a:ext cx="3657600" cy="182880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LangGraph</a:t>
            </a:r>
          </a:p>
          <a:p>
            <a:pPr>
              <a:defRPr sz="1200">
                <a:solidFill>
                  <a:srgbClr val="E9EFFD"/>
                </a:solidFill>
              </a:defRPr>
            </a:pPr>
            <a:r>
              <a:t>Stateful multi-agent graphs</a:t>
            </a:r>
            <a:br/>
            <a:r>
              <a:t>Best for: cyclic workflows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3749039"/>
            <a:ext cx="3657600" cy="182880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CrewAI</a:t>
            </a:r>
          </a:p>
          <a:p>
            <a:pPr>
              <a:defRPr sz="1200">
                <a:solidFill>
                  <a:srgbClr val="E9EFFD"/>
                </a:solidFill>
              </a:defRPr>
            </a:pPr>
            <a:r>
              <a:t>Role-based multi-agent teams</a:t>
            </a:r>
            <a:br/>
            <a:r>
              <a:t>Best for: collaborative agent 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3749039"/>
            <a:ext cx="3657600" cy="1828800"/>
          </a:xfrm>
          <a:prstGeom prst="rect">
            <a:avLst/>
          </a:prstGeom>
          <a:solidFill>
            <a:srgbClr val="243A66"/>
          </a:solidFill>
          <a:ln>
            <a:solidFill>
              <a:srgbClr val="E9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Opal (Google)</a:t>
            </a:r>
          </a:p>
          <a:p>
            <a:pPr>
              <a:defRPr sz="1200">
                <a:solidFill>
                  <a:srgbClr val="E9EFFD"/>
                </a:solidFill>
              </a:defRPr>
            </a:pPr>
            <a:r>
              <a:t>Visual beginner agent builder</a:t>
            </a:r>
            <a:br/>
            <a:r>
              <a:t>Best for: no-code first agent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Pedagogical sequencing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Weeks 1–2: Opal  -&gt;  Week 6: n8n  -&gt;  Week 7: LangChain + RAG  -&gt;  Weeks 8–10: Google ADK  -&gt;  Week 9: LangGraph/CrewAI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We sequence from lowest friction to highest power. Students build intuition before they build code.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Honest reflection &amp;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What worked: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- Opal/n8n lowered barriers for business students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- Student-chosen projects increased motivation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- Industry examples created real 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73736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What we are still figuring out: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- Keeping pace with framework changes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- Balancing depth vs breadth in 14 weeks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We are building this in public — and we would love to compare notes.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